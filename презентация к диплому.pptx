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6" r:id="rId8"/>
    <p:sldId id="265" r:id="rId9"/>
    <p:sldId id="267" r:id="rId10"/>
    <p:sldId id="268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CD109-FC5C-1BF6-CDF7-F8AA0949EF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46D8012-B1ED-D3B8-29DC-B3C8DE756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08131A0-2C98-FD68-7671-72FC0EAAC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E7CA6-6208-4769-8266-A9B1180A8781}" type="datetimeFigureOut">
              <a:rPr lang="ru-RU" smtClean="0"/>
              <a:t>24.06.2023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4A84C5A-11EE-D607-3982-546DF0EE7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A3E5607-BA37-4F5F-B9A3-B8B48DCC9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B050D-65B9-4B3C-A2A5-8AD5E7FCF2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2953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C349E4-146A-3F2E-558C-76FA57B2F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25ADFA-B743-72B1-3A01-7B9296000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924592-1396-3B64-9CDC-1D4DD096C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E7CA6-6208-4769-8266-A9B1180A8781}" type="datetimeFigureOut">
              <a:rPr lang="ru-RU" smtClean="0"/>
              <a:t>24.06.2023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5C4E54E-8AE5-A90E-3CC9-FB03B270B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F3158C1-C1C0-6A06-0373-20DF023F0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B050D-65B9-4B3C-A2A5-8AD5E7FCF2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1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AA5B0A-E6C3-3EC3-4673-76B3DCDDA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0F71F02-B0D3-F3EC-ADA2-AA0D365A05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79AD4B2-4EC6-CD8A-0CC5-113DCA1F9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E7CA6-6208-4769-8266-A9B1180A8781}" type="datetimeFigureOut">
              <a:rPr lang="ru-RU" smtClean="0"/>
              <a:t>24.06.2023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112D308-4AC8-8865-EACF-0857BB36A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469EBEE-228F-96D2-CAE8-3E24BB7A3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B050D-65B9-4B3C-A2A5-8AD5E7FCF2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1282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A4460D-509C-6264-31FA-08476321A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43F5FE-E292-E3BB-F41F-6706EF822E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2F28301-CD57-D93B-B655-13BF93F2FD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2E8C3FE-2C88-3662-0982-06A973AAD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E7CA6-6208-4769-8266-A9B1180A8781}" type="datetimeFigureOut">
              <a:rPr lang="ru-RU" smtClean="0"/>
              <a:t>24.06.2023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EC1FB6D-8FB9-39E2-546A-2C3F755C2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E1ADAC0-15CC-38BD-134A-3B47A8F9E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B050D-65B9-4B3C-A2A5-8AD5E7FCF2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8310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4F36E6-94C8-EADE-F28B-689CF5446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443D0C-4F55-1481-6568-2884D50880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3AD0A82-AECD-E923-3D0F-6622C1FF13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C10F48A-CAE3-C182-4D0F-9C8A643EC2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5B40A6A-1992-CBFC-5C12-97720123FA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8082838-6456-AB18-41E9-09D305972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E7CA6-6208-4769-8266-A9B1180A8781}" type="datetimeFigureOut">
              <a:rPr lang="ru-RU" smtClean="0"/>
              <a:t>24.06.2023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C5BC533-E610-2080-EEFC-7318A5DD9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E80D574-ABA2-B537-99F4-CCDCA8654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B050D-65B9-4B3C-A2A5-8AD5E7FCF2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5955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E32DB2-2AC8-1169-9E5C-2A0171A28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B1234AD-2DAE-1DD2-3A94-6E721B70D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E7CA6-6208-4769-8266-A9B1180A8781}" type="datetimeFigureOut">
              <a:rPr lang="ru-RU" smtClean="0"/>
              <a:t>24.06.2023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4D39677-A42D-B210-8957-804A45AE3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C4E9406-B69D-CB56-3ACD-84BC69C13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B050D-65B9-4B3C-A2A5-8AD5E7FCF2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8204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CDC8014-A94C-7D46-AFF4-5456A12D5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E7CA6-6208-4769-8266-A9B1180A8781}" type="datetimeFigureOut">
              <a:rPr lang="ru-RU" smtClean="0"/>
              <a:t>24.06.2023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D2EDDA1-FD61-7CBE-92AE-3CDD50896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441D25-1E9C-28C9-9FD6-B7895F784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B050D-65B9-4B3C-A2A5-8AD5E7FCF2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022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420FE9-3ABD-3661-BB3D-ABA60163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32322D1-4849-1578-E026-1E2190E3B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4734029-59EE-1427-91FD-746EEC5CE6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952358F-104B-E6DB-D6CF-8F5DE4554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E7CA6-6208-4769-8266-A9B1180A8781}" type="datetimeFigureOut">
              <a:rPr lang="ru-RU" smtClean="0"/>
              <a:t>24.06.2023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FD08868-8082-7698-5C98-B0B9F9148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97542E9-80FE-9DB5-9899-9B2AFC7EF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B050D-65B9-4B3C-A2A5-8AD5E7FCF2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2138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A58F25-CEB6-D63E-AD7F-459C23220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B3D7AE6-6060-9ABC-4DC3-CB4B8D3BE0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6F2B422-8CFE-1F5F-CF5D-300F629504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465587E-668A-9EBE-9B91-F7D7F944B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E7CA6-6208-4769-8266-A9B1180A8781}" type="datetimeFigureOut">
              <a:rPr lang="ru-RU" smtClean="0"/>
              <a:t>24.06.2023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E6DBD09-36F9-4818-B6CF-B968C36A1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D7F7A5-1CFA-48FF-0CDD-9C0A31129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B050D-65B9-4B3C-A2A5-8AD5E7FCF2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3385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65C3BB-ECC4-05A3-2C9B-0B1835FB9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FB258FB-95F8-506F-4FAD-16462CF230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4A763C7-4057-46AC-64D8-99A644D02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E7CA6-6208-4769-8266-A9B1180A8781}" type="datetimeFigureOut">
              <a:rPr lang="ru-RU" smtClean="0"/>
              <a:t>24.06.2023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B7EA5A4-87DA-F6EE-6358-3C6600665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18B06C-6D98-BBE3-E7FC-B452DF4C4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B050D-65B9-4B3C-A2A5-8AD5E7FCF2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0873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8E471D6-60DA-F15C-C465-53C5DD08DE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8E3BDFD-1CB7-7875-4ECE-6B0753B353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B61A4E2-31FD-64E6-6EFC-6D829337E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E7CA6-6208-4769-8266-A9B1180A8781}" type="datetimeFigureOut">
              <a:rPr lang="ru-RU" smtClean="0"/>
              <a:t>24.06.2023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9B46423-48B8-CA4B-7573-0C26CF99A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DBFF745-3DA4-A059-4F1F-5D1DFC357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B050D-65B9-4B3C-A2A5-8AD5E7FCF2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0543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0B5B2A-3BC7-6BD4-3FA8-DEC9BFE4D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9715C2D-65FC-85C1-7BD7-4F564C5928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1A9330F-AFD5-8A17-B2E1-12DFFE7738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AE7CA6-6208-4769-8266-A9B1180A8781}" type="datetimeFigureOut">
              <a:rPr lang="ru-RU" smtClean="0"/>
              <a:t>24.06.2023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8E623E0-350A-3BD5-5A47-25C42221FF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493F5A-8FF8-8516-3FB3-B5A5E059F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1B050D-65B9-4B3C-A2A5-8AD5E7FCF2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6340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415307-7A11-1B8E-CB3C-AF6A2D6F10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969"/>
            <a:ext cx="9144000" cy="2109777"/>
          </a:xfrm>
        </p:spPr>
        <p:txBody>
          <a:bodyPr/>
          <a:lstStyle/>
          <a:p>
            <a:pPr marL="327025" marR="375920">
              <a:spcBef>
                <a:spcPts val="360"/>
              </a:spcBef>
              <a:spcAft>
                <a:spcPts val="0"/>
              </a:spcAft>
            </a:pP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Автономная</a:t>
            </a:r>
            <a:r>
              <a:rPr lang="ru-RU" sz="1800" b="1" spc="-4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некоммерческая</a:t>
            </a:r>
            <a:r>
              <a:rPr lang="ru-RU" sz="1800" b="1" spc="-4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организация</a:t>
            </a:r>
            <a:b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«Профессиональная</a:t>
            </a:r>
            <a:r>
              <a:rPr lang="ru-RU" sz="1800" b="1" spc="-4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образовательная</a:t>
            </a:r>
            <a:r>
              <a:rPr lang="ru-RU" sz="1800" b="1" spc="-4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организация</a:t>
            </a:r>
            <a:b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«Московский Международный Колледж»</a:t>
            </a:r>
            <a:r>
              <a:rPr lang="ru-RU" sz="1800" b="1" spc="-33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(АНО</a:t>
            </a:r>
            <a:r>
              <a:rPr lang="ru-RU" sz="1800" b="1" spc="-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«ПОО «ММК»)</a:t>
            </a:r>
            <a:b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737B780-CC01-FF03-A7A7-425677B4C3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01255"/>
            <a:ext cx="9144000" cy="2313264"/>
          </a:xfrm>
        </p:spPr>
        <p:txBody>
          <a:bodyPr/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АТАЕВ БАДРУДИН ЗАУРБЕКОВИЧ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1D82E9-B1BF-4D12-B1C8-0158EB13FCB6}"/>
              </a:ext>
            </a:extLst>
          </p:cNvPr>
          <p:cNvSpPr txBox="1"/>
          <p:nvPr/>
        </p:nvSpPr>
        <p:spPr>
          <a:xfrm>
            <a:off x="3048699" y="3441693"/>
            <a:ext cx="6094602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70840" marR="372745" algn="ctr">
              <a:spcAft>
                <a:spcPts val="0"/>
              </a:spcAft>
            </a:pP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ВЫПУСКНАЯ</a:t>
            </a:r>
            <a:r>
              <a:rPr lang="ru-RU" sz="1800" b="1" spc="-2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КВАЛИФИКАЦИОННАЯ</a:t>
            </a:r>
            <a:r>
              <a:rPr lang="ru-RU" sz="1800" b="1" spc="-2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РАБОТА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70840" marR="375920" algn="ctr">
              <a:spcBef>
                <a:spcPts val="775"/>
              </a:spcBef>
              <a:spcAft>
                <a:spcPts val="0"/>
              </a:spcAf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</a:t>
            </a:r>
            <a:r>
              <a:rPr lang="ru-RU" sz="1800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тему:</a:t>
            </a:r>
          </a:p>
          <a:p>
            <a:pPr marL="370840" marR="375920" algn="ctr">
              <a:lnSpc>
                <a:spcPct val="150000"/>
              </a:lnSpc>
              <a:spcBef>
                <a:spcPts val="830"/>
              </a:spcBef>
              <a:spcAft>
                <a:spcPts val="0"/>
              </a:spcAft>
            </a:pP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“Разработка </a:t>
            </a: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web</a:t>
            </a: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-сайта для предприятия АО «ВО «Машиноимпорт»”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70840" marR="372745" algn="ctr">
              <a:lnSpc>
                <a:spcPts val="1590"/>
              </a:lnSpc>
              <a:spcAft>
                <a:spcPts val="0"/>
              </a:spcAf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по</a:t>
            </a:r>
            <a:r>
              <a:rPr lang="ru-RU" sz="1800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специальности –</a:t>
            </a:r>
            <a:r>
              <a:rPr lang="ru-RU" sz="1800" spc="-2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09.02.07</a:t>
            </a:r>
            <a:r>
              <a:rPr lang="ru-RU" sz="1800" spc="-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информационные системы</a:t>
            </a:r>
            <a:r>
              <a:rPr lang="ru-RU" sz="1800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</a:t>
            </a:r>
            <a:r>
              <a:rPr lang="ru-RU" sz="1800" spc="-1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технологии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361690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6EC910-68F0-9C5E-3D18-4AF72427A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2014" y="886568"/>
            <a:ext cx="6727971" cy="243281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600" b="1" kern="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Цели и задачи дипломного проекта</a:t>
            </a:r>
            <a:br>
              <a:rPr lang="ru-RU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47CECDA-ACDD-23F2-01A4-BAB95AD7D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261408"/>
            <a:ext cx="10515600" cy="5267267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информационной платформы для клиентов и партнеров;</a:t>
            </a:r>
          </a:p>
          <a:p>
            <a:pPr algn="just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Повышение имиджа предприятия;</a:t>
            </a:r>
          </a:p>
          <a:p>
            <a:pPr algn="just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Повышение лояльности и доверия клиентов;</a:t>
            </a:r>
          </a:p>
          <a:p>
            <a:pPr algn="just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Увеличение узнаваемости компании;</a:t>
            </a:r>
          </a:p>
          <a:p>
            <a:pPr algn="just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Привлечение новых клиентов;</a:t>
            </a:r>
          </a:p>
          <a:p>
            <a:pPr algn="just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Улучшение доступности информации о предприятии и его деятельности.</a:t>
            </a:r>
          </a:p>
          <a:p>
            <a:pPr marL="0" indent="0" algn="just">
              <a:buNone/>
            </a:pPr>
            <a:endParaRPr lang="ru-RU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успешного достижения поставленных целей, необходимо:</a:t>
            </a:r>
          </a:p>
          <a:p>
            <a:pPr marL="0" indent="0" algn="just">
              <a:buNone/>
            </a:pPr>
            <a:endParaRPr lang="ru-RU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Проанализировать требования компании к веб-сайту;</a:t>
            </a:r>
          </a:p>
          <a:p>
            <a:pPr algn="just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Изучить рынок программного обеспечения;</a:t>
            </a:r>
          </a:p>
          <a:p>
            <a:pPr algn="just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структуру сайта и его дизайн;</a:t>
            </a:r>
          </a:p>
          <a:p>
            <a:pPr algn="just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систему для размещения новостных постов;</a:t>
            </a:r>
          </a:p>
          <a:p>
            <a:pPr algn="just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Протестировать работоспособность разработанного кода;</a:t>
            </a: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7991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999232-C673-0207-5CCF-134E32C71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3400" y="258722"/>
            <a:ext cx="7545198" cy="951124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Основная характеристика компании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B6F09CEA-386C-D13C-61ED-DB19E58A74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9354" y="5001823"/>
            <a:ext cx="5873291" cy="133690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CEAFA8-D30E-C574-2A9D-FEFDC606BE1A}"/>
              </a:ext>
            </a:extLst>
          </p:cNvPr>
          <p:cNvSpPr txBox="1"/>
          <p:nvPr/>
        </p:nvSpPr>
        <p:spPr>
          <a:xfrm>
            <a:off x="1075014" y="1209846"/>
            <a:ext cx="100419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АО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МАШИНОИМПОРТ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было основано 31 октября 1933 года. За свою историю компания занималась: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4D9483-3C2A-7A41-D3F0-28384E0A0194}"/>
              </a:ext>
            </a:extLst>
          </p:cNvPr>
          <p:cNvSpPr txBox="1"/>
          <p:nvPr/>
        </p:nvSpPr>
        <p:spPr>
          <a:xfrm>
            <a:off x="1075014" y="1976304"/>
            <a:ext cx="1004197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Импортом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металлургического и транспортного оборудования;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Экспортом машинотехнической продукции;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С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троительством трансконтинентальных газопроводов;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Поставкой оборудования на многие отечественные нефтеперерабатывающие заводы;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О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бустройством крупных нефтегазовых месторождений;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еконструкцией и модернизацией морских портов.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0EE160-10F0-A501-1E20-FB09BFE18403}"/>
              </a:ext>
            </a:extLst>
          </p:cNvPr>
          <p:cNvSpPr txBox="1"/>
          <p:nvPr/>
        </p:nvSpPr>
        <p:spPr>
          <a:xfrm>
            <a:off x="1075013" y="3976382"/>
            <a:ext cx="100419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АО «ВО «Машиноимпорт» поставило более 25% всего машинотехнического оборудования, необходимого для народного хозяйства страны, на общую сумму около 70 миллиардов долларов.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38808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598DD4-F9AF-C996-7D88-796021D53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Исследование рынка программного обеспечения для веб-разработки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15EE443-4E2D-C359-E1E0-92149A399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2344"/>
            <a:ext cx="5257800" cy="4790114"/>
          </a:xfrm>
        </p:spPr>
        <p:txBody>
          <a:bodyPr>
            <a:normAutofit fontScale="92500"/>
          </a:bodyPr>
          <a:lstStyle/>
          <a:p>
            <a:pPr marL="0" indent="0" algn="just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инструменты для веб-разработки это: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Язык разметки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HTML;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Язык табличных стилей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CCS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Впрочем, для реализации интерактивного и динамического функционала используются языки программирования. Самым популярным в веб-разработке является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JavaScript. 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Особую важность играют и базы данных, без которых было бы невозможно оптимально хранить данные. Например, электронную почту, логин, пароль, профиль и так далее.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6E4F68-600C-BFAB-0151-A9804A6AC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9280" y="2074254"/>
            <a:ext cx="5304530" cy="3217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44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0C9D6C-C6A4-67FB-9197-825C6A55F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4974"/>
            <a:ext cx="10515600" cy="65459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Системы управления контентом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0E80C07-FAF2-4534-B374-F93B02F76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22791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Зачастую администрированием веб-сайта занимаются люди, которые не имеют навыков верстки. Обычно для них разрабатываются системы управления контентом – ПО, позволяющее управлять содержимым веб-страницы.</a:t>
            </a:r>
          </a:p>
          <a:p>
            <a:pPr marL="0" indent="0" algn="just">
              <a:buNone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WordPress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Joomla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Drupal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это примеры наиболее популярных CMS (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 Management System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на сегодняшний день. Впрочем, готовые CMS часто предлагают ограниченную функциональность по сравнению с созданием веб-сайта на чистом коде.</a:t>
            </a:r>
          </a:p>
          <a:p>
            <a:pPr marL="0" indent="0" algn="just">
              <a:buNone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BEDC14-8146-3EA2-0556-200DD5503C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4636" y="3434843"/>
            <a:ext cx="3922727" cy="3138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417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72BC73-2780-30BE-CA2D-3CF349693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2279"/>
            <a:ext cx="10515600" cy="1099060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Обоснование выбора внедряемой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48B9830-5D7D-9BC1-0C03-AA38E7974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74663"/>
            <a:ext cx="10515600" cy="1325563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Вместо использования программ-конструкторов в дипломном проекте будет использована стандартная верстка на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так как специальные сервисы хоть и упрощают разработку, но при этом ограничивают свободу действий разработчика, вынуждая его использовать готовые решения вместо создания собственных.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53DCFE-98CC-07A7-E258-1F18191FBE0D}"/>
              </a:ext>
            </a:extLst>
          </p:cNvPr>
          <p:cNvSpPr txBox="1"/>
          <p:nvPr/>
        </p:nvSpPr>
        <p:spPr>
          <a:xfrm>
            <a:off x="838200" y="2500226"/>
            <a:ext cx="10515600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Выбор в пользу JavaScript был сделан, так как он является самым распространенным языком во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разработке.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Он был создан специально для веб-браузеров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имеет огромное количество библиотек и фреймворков.</a:t>
            </a: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Размещение новостей происходит благодаря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программе, которая добавляет сущность в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JSON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файл. Ключи из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программа превращает в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код. </a:t>
            </a: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размещения постов или новостей на сайте многие предпочитают использовать готовые или специально разработанные CMS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которые позволяют манипулировать сайтом, его дизайном, функциональностью и структурой. Однако для рассматриваемого предприятия обширный функционал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CMS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может быть избыточным.</a:t>
            </a:r>
          </a:p>
          <a:p>
            <a:pPr algn="just"/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7280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937D27-342B-575E-42E4-DA5CA97E6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2697"/>
            <a:ext cx="10515600" cy="54978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Постановка задачи на дипломное проектирование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23FA2B-91F7-EB93-2EF8-B779C0773C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6814" y="1376407"/>
            <a:ext cx="9698372" cy="4592666"/>
          </a:xfrm>
        </p:spPr>
        <p:txBody>
          <a:bodyPr/>
          <a:lstStyle/>
          <a:p>
            <a:pPr marL="0" indent="0" algn="just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 предприятия есть ряд требований, выдвигаемых к разрабатываемому веб-сайту:</a:t>
            </a:r>
          </a:p>
          <a:p>
            <a:pPr marL="0" indent="0" algn="just">
              <a:buNone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Веб-сайт должен представлять из себя информационный ресурс, в котором собраны актуальные данные о компании (описание деятельности, истории, список партнеров, контакты и т.д.);</a:t>
            </a: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Веб-сайт должен обладать простым и интуитивно понятным интерфейсом;</a:t>
            </a: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Дизайн веб-сайта должен быть современным, но не слишком сложным.</a:t>
            </a: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дипломном проекте необходимо разработать продукт, соответствующий требованиям компании. 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177442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EB4D34C4-4F2F-BD87-FF63-A55C01F0D5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6450"/>
            <a:ext cx="10515600" cy="4351338"/>
          </a:xfrm>
        </p:spPr>
        <p:txBody>
          <a:bodyPr/>
          <a:lstStyle/>
          <a:p>
            <a:pPr marL="140970" marR="269240" indent="0" algn="just">
              <a:lnSpc>
                <a:spcPct val="15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Минимальные технические требования для работы с созданным программным продуктом всего лишь 512 МБ оперативной памяти, однако, чтобы избежать возможных перегрузок устройства, рекомендуется иметь более 2 ГБ оперативной памяти.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140970" marR="269240" indent="0" algn="just">
              <a:lnSpc>
                <a:spcPct val="150000"/>
              </a:lnSpc>
              <a:spcBef>
                <a:spcPts val="5"/>
              </a:spcBef>
              <a:spcAft>
                <a:spcPts val="0"/>
              </a:spcAft>
              <a:buNone/>
            </a:pP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140970" marR="269240" indent="0" algn="just">
              <a:lnSpc>
                <a:spcPct val="15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Если говорить о пользовательской стороне, то технические требования для посещения разработанного веб-сайта будут соответствовать требованиям использования браузера в целом.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140970" marR="269240" indent="0" algn="just">
              <a:lnSpc>
                <a:spcPct val="150000"/>
              </a:lnSpc>
              <a:spcBef>
                <a:spcPts val="5"/>
              </a:spcBef>
              <a:spcAft>
                <a:spcPts val="0"/>
              </a:spcAft>
              <a:buNone/>
            </a:pP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140970" marR="274955" indent="0" algn="just">
              <a:lnSpc>
                <a:spcPct val="150000"/>
              </a:lnSpc>
              <a:spcBef>
                <a:spcPts val="335"/>
              </a:spcBef>
              <a:spcAft>
                <a:spcPts val="0"/>
              </a:spcAft>
              <a:buNone/>
            </a:pP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Также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настоятельно рекомендуется использовать последнюю версию браузера, чтобы избежать проблем с безопасностью и иметь доступ к новым функциям. </a:t>
            </a:r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27F0E3AC-289E-A063-CE8B-844673BEE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289"/>
            <a:ext cx="10515600" cy="448607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Технические требования</a:t>
            </a:r>
          </a:p>
        </p:txBody>
      </p:sp>
    </p:spTree>
    <p:extLst>
      <p:ext uri="{BB962C8B-B14F-4D97-AF65-F5344CB8AC3E}">
        <p14:creationId xmlns:p14="http://schemas.microsoft.com/office/powerpoint/2010/main" val="4023760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CB4EA0-5EC0-927C-E27A-202E5EE04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5870" y="18256"/>
            <a:ext cx="9480259" cy="946478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Блок-схема программы для размещения новостей</a:t>
            </a:r>
          </a:p>
        </p:txBody>
      </p:sp>
      <p:pic>
        <p:nvPicPr>
          <p:cNvPr id="11" name="Объект 10">
            <a:extLst>
              <a:ext uri="{FF2B5EF4-FFF2-40B4-BE49-F238E27FC236}">
                <a16:creationId xmlns:a16="http://schemas.microsoft.com/office/drawing/2014/main" id="{C6EB8AEE-EECE-1DB6-56EF-CA335FB0C7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8260" y="898931"/>
            <a:ext cx="3632892" cy="5959070"/>
          </a:xfrm>
        </p:spPr>
      </p:pic>
    </p:spTree>
    <p:extLst>
      <p:ext uri="{BB962C8B-B14F-4D97-AF65-F5344CB8AC3E}">
        <p14:creationId xmlns:p14="http://schemas.microsoft.com/office/powerpoint/2010/main" val="33934246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7DEB31-AE9D-1FC9-2441-5CE4E332C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8389" y="177346"/>
            <a:ext cx="2535222" cy="691888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B8AB4AE-872E-7661-ADB1-22AA2D2C8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6013"/>
            <a:ext cx="10515600" cy="4899169"/>
          </a:xfrm>
        </p:spPr>
        <p:txBody>
          <a:bodyPr>
            <a:normAutofit fontScale="85000" lnSpcReduction="20000"/>
          </a:bodyPr>
          <a:lstStyle/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Целью дипломного проекта являлось создание доступной информационной платформы для предприятия АО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Машиноимпорт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этого был разработан веб-сайт с учётом всех требований компании.</a:t>
            </a:r>
          </a:p>
          <a:p>
            <a:pPr marL="0" indent="0" algn="just">
              <a:buNone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процессе работы студентом были изучены:</a:t>
            </a:r>
          </a:p>
          <a:p>
            <a:pPr marL="0" indent="0" algn="just">
              <a:buNone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Современные практики веб-дизайна;</a:t>
            </a:r>
          </a:p>
          <a:p>
            <a:pPr algn="just"/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Методы достижения наилучшего пользовательского опыта;</a:t>
            </a:r>
          </a:p>
          <a:p>
            <a:pPr algn="just"/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Способы создания функциональной структуры сайта;</a:t>
            </a:r>
          </a:p>
          <a:p>
            <a:pPr algn="just"/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Практическое применение программных инструментов в работе над проектом.</a:t>
            </a:r>
          </a:p>
          <a:p>
            <a:pPr algn="just"/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BE4998-11D6-6CB7-7834-F8C665FBA155}"/>
              </a:ext>
            </a:extLst>
          </p:cNvPr>
          <p:cNvSpPr txBox="1"/>
          <p:nvPr/>
        </p:nvSpPr>
        <p:spPr>
          <a:xfrm>
            <a:off x="4067047" y="5878740"/>
            <a:ext cx="40579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28625806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1189</TotalTime>
  <Words>712</Words>
  <Application>Microsoft Office PowerPoint</Application>
  <PresentationFormat>Широкоэкранный</PresentationFormat>
  <Paragraphs>89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Тема Office</vt:lpstr>
      <vt:lpstr>Автономная некоммерческая организация «Профессиональная образовательная организация «Московский Международный Колледж» (АНО «ПОО «ММК») </vt:lpstr>
      <vt:lpstr>Цели и задачи дипломного проекта </vt:lpstr>
      <vt:lpstr>Основная характеристика компании</vt:lpstr>
      <vt:lpstr>Исследование рынка программного обеспечения для веб-разработки</vt:lpstr>
      <vt:lpstr>Системы управления контентом</vt:lpstr>
      <vt:lpstr>Обоснование выбора внедряемой системы</vt:lpstr>
      <vt:lpstr>Постановка задачи на дипломное проектирование</vt:lpstr>
      <vt:lpstr>Технические требования</vt:lpstr>
      <vt:lpstr>Блок-схема программы для размещения новостей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Автономная некоммерческая организация «Профессиональная образовательная организация «Московский Международный Колледж» (АНО «ПОО «ММК») </dc:title>
  <dc:creator>Евгений Бланский</dc:creator>
  <cp:lastModifiedBy>Badrudin</cp:lastModifiedBy>
  <cp:revision>40</cp:revision>
  <dcterms:created xsi:type="dcterms:W3CDTF">2023-06-09T17:01:11Z</dcterms:created>
  <dcterms:modified xsi:type="dcterms:W3CDTF">2023-06-24T06:15:28Z</dcterms:modified>
</cp:coreProperties>
</file>